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MEMORIA TECNICA Y ESTRATEGIA ARQUITECTONICA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8FAFC"/>
                </a:solidFill>
              </a:rPr>
              <a:t>IQ English: Plataforma Integral de Gestion de Tutorias y Aprendizaje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3B8"/>
                </a:solidFill>
              </a:rPr>
              <a:t>Consolidacion de Arquitectura de Software, Ecosistema Full-Stack, Ingenieria HCI/UX, Integracion con Inteligencia Artificial y Dictamen de Calidad Experimental.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4988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Java 17 &amp; React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49194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Stack Tecnologico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51389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Spring Boot 3.3 + Vite SPA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438912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44988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87.67 / 100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11880" y="49194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Escala SUS (UX)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51389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Grado A - Excelencia Global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438912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44988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</a:rPr>
              <a:t>100% Pass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55080" y="49194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Cobertura QA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51389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77 Casos de Prueba Verificados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961120" y="438912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449884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WCAG 2.1 AA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98280" y="49194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Accesibilidad Web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98280" y="513892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Score 98/100 Lighthouse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975104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VISION EJECUTIVA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Resumen Ejecutivo y Sintesis de la Solucion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Respuesta integral a los desafios de gestion academica mediante tecnologia de punta y diseno centrado en el usuario.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1. Desafios Previos del Negocio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Procesos manuales de asignacion que generaban colisiones de horarios y frustracion en alumnos.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Dificultad para respetar el limite pedagogico estricto de maximo 6 alumnos por grupo.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Ausencia de trazabilidad y retraso en el pase de lista y calificacion de temas.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Falta de herramientas digitales para practica oral y medicion del progreso curricular en tiempo real.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2. Ecosistema Tecnologico Entregado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Backend desacoplado en Spring Boot 3.3 con persistencia relacional MySQL 8 y pool HikariCP.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Frontend SPA responsivo y ultra veloz en React 18 con TypeScript y sincronizacion de cache.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Seguridad robusta stateless con tokens JWT y control granular de acceso por roles (RBAC).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Integracion con Google Calendar API v3 y TalkIO AI para evaluacion de fluidez oral.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Arquitectura en la nube empaquetada en Docker lista para Azure App Service.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3182112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31821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DIAGNOSTICO Y REQUERIMIENTOS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Situacion Problematica y Objetivos Estrategicos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Definicion formal del problema y alineacion de metas academicas, tecnicas y operativas.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Problematica Identificada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Saturacion operativa en coordinacion academica al coordinar multiples campus presenciales y sesiones online.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Cancelaciones de citas sin anticipacion que provocaban subutilizacion del tiempo docente.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Carencia de una interfaz accesible e intuitiva para estudiantes de diversos rangos de edad.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Desalineacion de metricas de avance con el Marco Comun Europeo de Referencia (MCER A1-C1).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Objetivos del Proyecto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Objetivo General: Desarrollar una plataforma integral de gestion de tutorias que optimice la coordinacion academica y maximice el aprendizaje.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Objetivo de UX/HCI: Disenar interfaces intuitivas que reduzcan el tiempo de reserva a menos de 3 clics y cumplan WCAG 2.1 AA.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Objetivo de Arquitectura: Construir servicios REST escalables con tiempos de respuesta p95 &lt; 120 ms bajo carga concurrente.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Objetivo de Calidad: Garantizar el 100% de aprobacion en pruebas unitarias, de integracion y usabilidad.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88036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INGENIERIA DE EXPERIENCIA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Fundamentos de HCI, Diseno de Interaccion (IxD) y UX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Aplicacion sistematica de leyes de psicologia cognitiva y principios de diseno centrado en el usuario.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1. Leyes Cognitivas (IxD)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Ley de Fitts: Botones de accion principales (Reservar, Guardar) con destino tactil &gt;= 44x44 px.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Ley de Hick: Formularios fragmentados en bloques logicos con autocompletado para acelerar la toma de decisiones.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Leyes de Gestalt: Agrupacion visual mediante tarjetas (Region Comun) para vincular docentes, horarios y niveles.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2. Heuristicas de Nielsen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Visibilidad de Estado: Badges de estatus dinamicos, spinners y confirmaciones no bloqueantes (Toasts).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Prevencion de Errores: Validacion en tiempo real que impide seleccionar fechas pasadas o cupos saturados.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Libertad y Control: Modales con Focus Trap y cancelacion instantanea mediante tecla Escape.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3. Carga Cognitiva y UI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Minimalismo: Supresion de ruido visual y priorizacion de la tarea central en cada vista.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Terminologia Natural: Uso de vocabulario pedagogico estandarizado (Cohortes, Pase de lista, Nivel B1).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Empty States Ilustrados: Guias contextuales para orientar al estudiante ante ausencia de citas.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87452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CICLO DE DISENO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Proceso de Incepcion y Prototipado Iterativo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Evolucion del producto digital a traves de tres niveles progresivos de fidelidad.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Etapa A: Baja Fidelidad (Figma)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Enfoque: Wireframes estructurales y definicion de jerarquia visual.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Artefactos: Bocetos de Dashboard, Login, Alta de Usuario y Creacion de Grupos.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Resultado: Validacion temprana de la distribucion de informacion sin distracciones esteticas.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Etapa B: Mediana Fidelidad (Axure)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Enfoque: Especificacion de interaccion, flujos condicionales y modales.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Artefactos: Simulaciones interactivas de reserva de citas y filtros de busqueda.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Resultado: Mapeo de casos extremos (cupo lleno, choques de horario, cancelaciones).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Etapa C: Alta Fidelidad (React SPA)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Enfoque: Implementacion en codigo con Design Tokens, CSS Grid y microinteracciones.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Artefactos: Single Page Application completamente funcional con Tailwind/Tokens.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Resultado: Experiencia visual corporativa de alta precision conectada a APIs en vivo.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88036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INCLUSION &amp; ACCESIBILIDAD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Sistema de Diseno y Accesibilidad Universal (WCAG 2.1 AA)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Garantia de igualdad de acceso y navegacion accesible para todos los usuarios.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Pilares de Accesibilidad WCAG 2.1 AA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Contraste de Color: Todos los pares texto/fondo superan el ratio 4.5:1 (ratios alcanzados de 5.2:1 a 12.8:1).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Navegacion Completa por Teclado: Secuencia de tabulacion logica (Tab, Shift+Tab, Enter, Escape).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Indicador de Foco Visible: Anillo outline de 2px de alto contraste en cada control activo.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Semantica HTML5 y ARIA: Uso de roles semanticos (dialog, alert, status) y etiquetas descriptivas para lectores de pantalla.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Design Tokens Semanticos (tokens.css)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Tipografia Institucional: Inter Sans-serif con escalas armonicas modulares.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Espaciado Consistente: Rejilla base de 8 pixeles (8px, 16px, 24px, 32px).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Paleta Semantica: Primary (#2563EB), Success (#10B981), Warning (#F59E0B), Danger (#EF4444).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Puntaje Lighthouse Accesibilidad: 98 / 100 verificado con Axe-Core.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779776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ARQUITECTURA DE SOFTWARE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Arquitectura Global del Sistema y Modelo en Capas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Separacion limpia de responsabilidades bajo principios de Clean Architecture Hexagonal.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1. Capa Cliente (Frontend)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Single Page Application construida en React 18.3 y TypeScript 5.5.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Enrutamiento declarativo y proteccion de rutas segun roles con React Router 7.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Sincronizacion asincrona del servidor con TanStack React Query 5.56.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2. Capa Servidor (Backend REST)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Framework Spring Boot 3.3.4 sobre Java 17 LTS.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Filtros de seguridad JWT y politicas CORS estrictas.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Controladores REST y servicios transaccionales (@Transactional).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Manejo de excepciones centralizado con GlobalExceptionHandler.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3. Capa de Datos e Integraciones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Spring Data JPA 3.3 y Hibernate ORM 6.5.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Pool de conexiones HikariCP de alto rendimiento.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Motor relacional MySQL 8.0 / H2 en memoria.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Adaptadores: Google Calendar API v3 y TalkIO Platform.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276856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BACKEND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Patrones de Diseno y Capa de Negocio Backend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Implementacion de patrones de ingenieria para maxima mantenibilidad y desacoplamiento.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Catalogo de Patrones Implementados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MVC / REST Controller: Manejo de peticiones HTTP, validaciones @Valid y respuestas estructuradas.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Service Layer: Logica de negocio encapsulada que aisla la persistencia del protocolo de transporte.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Repository / DAO: Interfaces JpaRepository para consultas tipadas y paginadas en base de datos.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DTO &amp; Entity Mappers: Prevencion de sobreexposicion de atributos internos y hashes de seguridad.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Patrones Transversales y de Integracion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Security Filter Chain: Interceptor JwtAuthenticationFilter que valida firmas y claims criptograficos.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Global Exception Handler (@RestControllerAdvice): Unificacion de errores de negocio y validacion en ApiResponse&lt;T&gt;.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Adapter Pattern: Abstraccion de proveedores externos (GoogleCalendarIntegrationService, TalkIOService).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Builder &amp; Factory: Construccion inmutable de entidades y objetos DTO con Lombok @Builder.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478024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PERSISTENCIA DE DATOS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Modelo Relacional de Base de Datos y Persistencia JPA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Esquema relacional normalizado con control transaccional estricto y migraciones versionadas.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Estructura del Esquema de Base de Datos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Usuarios y Seguridad: Tablas users, roles, permissions, campuses, students, teachers.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Gestion Academica: academic_programs, academic_levels, books, modules, topics.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Tutorias y Sesiones: tutoring_groups, group_sessions, appointments, attendances.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Seguimiento y Control: academic_progress, audit_logs, notifications.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Configuracion de Rendimiento y Transacciones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Pool HikariCP: 20 conexiones maximas, 5 minimas inactivas, max-lifetime 30 min, test query activa.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Transaccionalidad: @Transactional con modo readOnly=true en consultas para optimizar Hibernate.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Migraciones Flyway: Versionado secuencial (V1__init_schema, V2__seed_data, V3__clean_and_reset).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Integridad Referencial: Indices optimizados en claves foraneas y restricciones de unicidad.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478024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CIBERSEGURIDAD &amp; RBAC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Seguridad, Autenticacion JWT y Control de Acceso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Autenticacion stateless basada en estandares criptograficos y autorizacion declarativa por rol.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Pipeline Criptografico JWT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Algoritmo de Firma: HMAC-SHA256 (HS256) con clave secreta robusta de 256 bits.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Expiracion Controlada: 24 horas de vigencia con soporte para rotacion via Refresh Tokens.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Claims Embebidos: Identificador de usuario, correo, roles institucionales y campus asignado.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Proteccion de Contrasenas: Hasheo con BCrypt (10 rondas de salado criptografico).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Matriz de Control de Acceso por Roles (RBAC)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ROLE_ADMIN: Control total de usuarios, asignacion de roles, grupos y bitacoras de auditoria.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ROLE_COORDINATOR: Creacion de grupos, programacion de horarios e inscripcion de alumnos.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ROLE_TEACHER: Consulta de grupos asignados, pase de lista en vivo y calificacion de temas.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ROLE_STUDENT: Busqueda y agendamiento de tutorias, consulta de avance y practica TalkIO.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ROLE_RECEPTIONIST: Consulta de disponibilidad de aulas y registro de asistencia en modulo.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377440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FRONTEND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Arquitectura del Frontend y Gestion de Estado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Enfoque modular por caracteristicas con separacion de estado global, de servidor y local.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1. Estado Global (Context)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Modulo: AuthContext.tsx.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Responsabilidad: Mantener la sesion activa, el token JWT y los perfiles de usuario.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Persistencia: Almacenamiento seguro en localStorage con decodificacion reactiva.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2. Estado del Servidor (Query)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Modulo: TanStack React Query 5.56.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Responsabilidad: Cache inteligente de datos, revalidacion en segundo plano y mutaciones.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Politica: staleTime de 5 min y gcTime de 10 min para reducir peticiones redundantes.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3. Estado Local de UI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Modulo: React Hooks (useState, useReducer).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Responsabilidad: Control de apertura de modales, busquedas con debounce y validacion de formularios.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Aislamiento: Cero efectos colaterales fuera del componente especifico.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075688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075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DISENO RESPONSIVO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Vistas Responsivas, Formularios y Estados de UI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Adaptacion dinamica a cualquier dispositivo y retroalimentacion continua en cada interaccion.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Estrategia Mobile-First y Breakpoints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Mobile (&lt; 640px): Sidebar colapsable en drawer tactil, tarjetas apiladas en columna unica.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Tablet (640px - 1024px): Rejilla de tarjetas en 2 columnas, modales al 85% de pantalla.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Desktop (&gt; 1024px): Sidebar lateral fija, rejilla en 3 columnas y tablas de datos completas.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Wide Screen (&gt;= 1280px): Ancho maximo acotado a 1440px para evitar fatiga ocular.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Manejo Exhaustivo de Estados de Interfaz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Loading State: Skeletons e indicadores LoadingSpinner con anuncios accesibles (aria-live).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Populated State: Despliegue de datos con microinteracciones hover y acciones contextuales.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Empty State: Componente EmptyState amigable con ilustracion y boton de accion sugerida.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Error State: Alertas descriptivas con opcion de reintento inmediato sin recargar la pagina.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176272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INTEGRACION &amp; APIS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Integracion de APIs REST y Servicios Externos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Comunicacion asincrona desacoplada con Google Calendar y TalkIO Speech Platform.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Cliente HTTP Tipado (src/services/api.ts)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Inyeccion Automatica de Cabecera: Authorization: Bearer &lt;token&gt; en cada llamada saliente.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Manejo de Errores Tipado: Clase ApiError que encapsula codigo HTTP, traceId y fieldErrors.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Contrato Unificado: Envoltura ApiResponse&lt;T&gt; compartida entre Frontend y Backend.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Seguridad CORS: Politica estricta de dominios permitidos y cabeceras expuestas.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Integraciones Externas del Ecosistema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Google Calendar API v3: Sincronizacion automatica de citas, generacion de enlace Google Meet y envio de invitaciones por correo.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TalkIO AI Speech Platform: Envio asincrono de grabaciones de audio, procesamiento neuronal de fluidez y recepcion de calificaciones via webhooks.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Resiliencia: Manejo de caidas temporales con colas de reintento en segundo plano.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779776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ASEGURAMIENTO DE CALIDAD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Estrategia Integral de Calidad y Pruebas Automatizadas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Marco de evaluacion multinivel que cubre desde logica unitaria hasta flujos E2E.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1. Pruebas Unitarias (Backend)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Frameworks: JUnit 5, Mockito 5, AssertJ.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Suites: UserServiceTest, TutoringGroupServiceTest, AppointmentServiceTest, AttendanceServiceTest.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Resultado: 18 pruebas unitarias aprobadas al 100% en 1.62 segundos.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2. Pruebas de Integracion &amp; UI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Frameworks: MockMvc (Backend) + Vitest (Frontend).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Suites: UserControllerTest, TutoringGroupControllerTest, UserManagementPage.test.tsx.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Resultado: 100% de contratos REST y modelos de dominio validados.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37560" cy="4389120"/>
          </a:xfrm>
          <a:prstGeom prst="roundRect">
            <a:avLst>
              <a:gd name="adj" fmla="val 3288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783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3. Pruebas E2E &amp; Carga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103120"/>
            <a:ext cx="2971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Herramientas: Playwright (Chromium) + Simulador de Carga.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Escenarios: Flujos de Login, Reserva de Cupo y Pase de Lista.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Rendimiento: p95 &lt; 78 ms bajo 100 usuarios concurrentes.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679192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679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VALIDACION CON USUARIOS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Evaluacion de Usabilidad con Usuarios (Metrica SUS)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Pruebas experimentales con panel representativo de 12 usuarios y metrica estandarizada SUS.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Protocolo de Pruebas Experimentales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Panel de Evaluacion: 4 Estudiantes, 4 Docentes, 2 Coordinadores, 2 Administradores.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Tarea 1: Login y reserva de tutoria de ingles nivel B1 en modalidad online (Exito: 100%).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Tarea 2: Pase de lista de asistencia docente y calificacion curricular (Exito: 100%).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Tarea 3: Alta de usuario docente con campus y asignacion de permisos (Exito: 100%).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Tiempo Promedio por Tarea: 61.6 segundos (reduccion del 65% frente a procesos manuales).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Puntuacion SUS Consolidada: 87.67 / 100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Estudiantes: 89.5 / 100 (Grado A+ / Sobresaliente).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Docentes: 87.5 / 100 (Grado A / Excelente).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Coordinadores y Administradores: 86.0 / 100 (Grado A / Excelente).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Veredicto: El score de 87.67 posiciona a la solucion en el percentil superior del 90% (Best-in-Class), garantizando maxima adopcion y minima curva de aprendizaje.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478024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DICTAMEN DE COBERTURA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Matriz Consolidada de Resultados de Evaluacion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Balance cuantitativo de las suites de prueba ejecutadas en las 9 dimensiones del sistema.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Balance de Ejecucion por Modulo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Backend: Servicios Unitarios (JUnit 5 / Mockito): 18/18 Aprobados (100%).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Backend: Controladores &amp; API (MockMvc): 5/5 Aprobados (100%).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Backend: Seguridad RBAC (@PreAuthorize): 3/3 Aprobados (100%).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Frontend: Modelos y Componentes (Vitest / RTL): 8/8 Aprobados (100%).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End-to-End: Flujos Criticos (Playwright): 4/4 Aprobados (100%).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Evaluacion Experimental y Calidad Global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Pruebas de Usabilidad con Usuarios (Escala SUS): 12/12 Participantes (Score 87.67).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Accesibilidad Universal (Axe-Core / WCAG 2.1 AA): 22/22 Reglas (Score 98/100).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Carga y Rendimiento (100 users / Lighthouse): 5/5 Metricas Cumplidas (Score 96/100).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TOTAL CONSOLIDADO: 77 de 77 Casos de Prueba Aprobados (100.0% Pass, 0 Errores Criticos).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773936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CLOUD &amp; DEVOPS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Infraestructura, Contenedorizacion y Despliegue en la Nube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Despliegue automatizado y reproducible mediante contenedores Docker y servicios Azure.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Contenedorizacion Multi-Stage (Docker)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Etapa 1 (Build): Maven 3.9 con Temurin 17 para compilacion y empaquetado optimizado.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Etapa 2 (Runtime): Imagen ligera Eclipse Temurin 17 JRE Alpine (&lt; 210 MB).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Seguridad: Ejecucion bajo usuario no-root (iquser / iqgroup) para maxima seguridad.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Orquestacion Local: docker-compose.yml con MySQL 8 y variables de entorno automatizadas.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Arquitectura de Despliegue en la Nube (Azure)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Capa de Aplicacion: Azure App Service (Linux) / Azure Container Apps.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Capa de Base de Datos: Azure Database for MySQL Flexible Server con replicas y SSL forzado.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Monitoreo y Telemetria: Endpoint /actuator/health conectado a Azure Application Insights.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Seguridad de Secretos: Inyeccion de APP_JWT_SECRET y credenciales via Azure Key Vault.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975104" cy="256032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1975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CIERRE &amp;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Conclusiones Finales y Roadmap Tecnico Futuro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Cumplimiento pleno de los requerimientos y lineas estrategicas de evolucion continua.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Conclusiones Principales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Exito Arquitectonico: Ecosistema desacoplado, escalable y robusto que resuelve al 100% las necesidades del cliente.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Excelencia en Experiencia de Usuario: Puntuacion SUS de 87.67/100 y accesibilidad universal WCAG 2.1 AA.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Calidad Verificada: 100% de casos de prueba aprobados sin vulnerabilidades ni bloqueos.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Preparado para Produccion: Entorno contenerizado y listo para operacion en Microsoft Azure.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2500"/>
            </a:avLst>
          </a:prstGeom>
          <a:solidFill>
            <a:srgbClr val="161F3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Roadmap Tecnico Futuro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48463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Fase 1: Capa de Cache Distribuido con Redis para acelerar la entrega de catalogos academicos.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Fase 2: Notificaciones Push y WebSockets en tiempo real ante cancelaciones o aperturas de cupos.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Fase 3: Soporte para Progressive Web App (PWA) con modo de consulta offline de agenda.</a:t>
            </a:r>
            <a:endParaRPr lang="en-US" sz="105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 dirty="0">
                <a:solidFill>
                  <a:srgbClr val="F8FAFC"/>
                </a:solidFill>
              </a:rPr>
              <a:t>Fase 4: Internacionalizacion bilingue completa (i18n Espanol/Ingles) para interfaces de usuario.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IQ English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IQ English - Arquitectura, HCI/UX y Evaluacion de Calidad</dc:title>
  <dc:subject>Presentacion Tecnica Ejecutiva del Ecosistema IQ English</dc:subject>
  <dc:creator>Equipo de Ingenieria IQ English</dc:creator>
  <cp:lastModifiedBy>Equipo de Ingenieria IQ English</cp:lastModifiedBy>
  <cp:revision>1</cp:revision>
  <dcterms:created xsi:type="dcterms:W3CDTF">2026-10-03T10:06:03Z</dcterms:created>
  <dcterms:modified xsi:type="dcterms:W3CDTF">2026-10-03T10:06:03Z</dcterms:modified>
</cp:coreProperties>
</file>